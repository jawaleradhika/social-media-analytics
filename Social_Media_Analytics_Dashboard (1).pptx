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9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4" r:id="rId11"/>
    <p:sldId id="267" r:id="rId12"/>
    <p:sldId id="266" r:id="rId13"/>
    <p:sldId id="269" r:id="rId14"/>
    <p:sldId id="268" r:id="rId15"/>
    <p:sldId id="271" r:id="rId16"/>
    <p:sldId id="270" r:id="rId17"/>
    <p:sldId id="273" r:id="rId18"/>
    <p:sldId id="272" r:id="rId19"/>
    <p:sldId id="275" r:id="rId20"/>
    <p:sldId id="274" r:id="rId21"/>
    <p:sldId id="277" r:id="rId22"/>
    <p:sldId id="276" r:id="rId23"/>
    <p:sldId id="279" r:id="rId24"/>
    <p:sldId id="278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Activity</c:v>
                </c:pt>
              </c:strCache>
            </c:strRef>
          </c:tx>
          <c:spPr>
            <a:solidFill>
              <a:srgbClr val="5B5FE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nsantana</c:v>
                </c:pt>
                <c:pt idx="1">
                  <c:v>pedrowilson</c:v>
                </c:pt>
                <c:pt idx="2">
                  <c:v>john37</c:v>
                </c:pt>
                <c:pt idx="3">
                  <c:v>rebecca71</c:v>
                </c:pt>
                <c:pt idx="4">
                  <c:v>nathandean</c:v>
                </c:pt>
                <c:pt idx="5">
                  <c:v>johnjames</c:v>
                </c:pt>
                <c:pt idx="6">
                  <c:v>masonhenderson</c:v>
                </c:pt>
                <c:pt idx="7">
                  <c:v>whitney74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9-4F79-B912-AE8415980D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1000202528"/>
        <c:axId val="-1000196000"/>
      </c:barChart>
      <c:catAx>
        <c:axId val="-10002025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1000196000"/>
        <c:crosses val="autoZero"/>
        <c:auto val="1"/>
        <c:lblAlgn val="ctr"/>
        <c:lblOffset val="100"/>
        <c:noMultiLvlLbl val="1"/>
      </c:catAx>
      <c:valAx>
        <c:axId val="-1000196000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1000202528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22C7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#105 · stacey56</c:v>
                </c:pt>
                <c:pt idx="1">
                  <c:v>#96 · nsimpson</c:v>
                </c:pt>
                <c:pt idx="2">
                  <c:v>#21 · kayla61</c:v>
                </c:pt>
                <c:pt idx="3">
                  <c:v>#430 · jimmy12</c:v>
                </c:pt>
                <c:pt idx="4">
                  <c:v>#360 · gregory45</c:v>
                </c:pt>
                <c:pt idx="5">
                  <c:v>#844 · turnermichelle</c:v>
                </c:pt>
                <c:pt idx="6">
                  <c:v>#694 · ktaylor</c:v>
                </c:pt>
                <c:pt idx="7">
                  <c:v>#393 · howebryan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60-4229-9171-8142E718FA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1000200352"/>
        <c:axId val="-1000193824"/>
      </c:barChart>
      <c:catAx>
        <c:axId val="-10002003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1000193824"/>
        <c:crosses val="autoZero"/>
        <c:auto val="1"/>
        <c:lblAlgn val="ctr"/>
        <c:lblOffset val="100"/>
        <c:noMultiLvlLbl val="1"/>
      </c:catAx>
      <c:valAx>
        <c:axId val="-100019382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1000200352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 / Post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Mayotte</c:v>
                </c:pt>
                <c:pt idx="1">
                  <c:v>Pitcairn Islands</c:v>
                </c:pt>
                <c:pt idx="2">
                  <c:v>South Africa</c:v>
                </c:pt>
                <c:pt idx="3">
                  <c:v>United States Virgin Islands</c:v>
                </c:pt>
                <c:pt idx="4">
                  <c:v>Belarus</c:v>
                </c:pt>
                <c:pt idx="5">
                  <c:v>Western Sahara</c:v>
                </c:pt>
                <c:pt idx="6">
                  <c:v>Uzbekistan</c:v>
                </c:pt>
                <c:pt idx="7">
                  <c:v>Bahrain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2.25</c:v>
                </c:pt>
                <c:pt idx="5">
                  <c:v>2.25</c:v>
                </c:pt>
                <c:pt idx="6">
                  <c:v>2.33</c:v>
                </c:pt>
                <c:pt idx="7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89-4D43-868C-E0B80C420C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1000197088"/>
        <c:axId val="-1000192192"/>
      </c:barChart>
      <c:catAx>
        <c:axId val="-10001970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1000192192"/>
        <c:crosses val="autoZero"/>
        <c:auto val="1"/>
        <c:lblAlgn val="ctr"/>
        <c:lblOffset val="100"/>
        <c:noMultiLvlLbl val="1"/>
      </c:catAx>
      <c:valAx>
        <c:axId val="-100019219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1000197088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 Tagged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#whom</c:v>
                </c:pt>
                <c:pt idx="1">
                  <c:v>#fly</c:v>
                </c:pt>
                <c:pt idx="2">
                  <c:v>#sense</c:v>
                </c:pt>
                <c:pt idx="3">
                  <c:v>#seek</c:v>
                </c:pt>
                <c:pt idx="4">
                  <c:v>#among</c:v>
                </c:pt>
                <c:pt idx="5">
                  <c:v>#year</c:v>
                </c:pt>
                <c:pt idx="6">
                  <c:v>#population</c:v>
                </c:pt>
                <c:pt idx="7">
                  <c:v>#so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B-4E59-AF95-3A59A8BB53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1000194368"/>
        <c:axId val="-1000191648"/>
      </c:barChart>
      <c:catAx>
        <c:axId val="-1000194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1000191648"/>
        <c:crosses val="autoZero"/>
        <c:auto val="1"/>
        <c:lblAlgn val="ctr"/>
        <c:lblOffset val="100"/>
        <c:noMultiLvlLbl val="1"/>
      </c:catAx>
      <c:valAx>
        <c:axId val="-100019164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1000194368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Followers</c:v>
                </c:pt>
              </c:strCache>
            </c:strRef>
          </c:tx>
          <c:spPr>
            <a:solidFill>
              <a:srgbClr val="5B5FE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shirleylester</c:v>
                </c:pt>
                <c:pt idx="1">
                  <c:v>rmurillo</c:v>
                </c:pt>
                <c:pt idx="2">
                  <c:v>ngonzalez</c:v>
                </c:pt>
                <c:pt idx="3">
                  <c:v>jamiegreen</c:v>
                </c:pt>
                <c:pt idx="4">
                  <c:v>taylorcynthia</c:v>
                </c:pt>
                <c:pt idx="5">
                  <c:v>corey63</c:v>
                </c:pt>
                <c:pt idx="6">
                  <c:v>christy26</c:v>
                </c:pt>
                <c:pt idx="7">
                  <c:v>vthomas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2-4296-8310-9E5F90306F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960102592"/>
        <c:axId val="-960108032"/>
      </c:barChart>
      <c:catAx>
        <c:axId val="-9601025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960108032"/>
        <c:crosses val="autoZero"/>
        <c:auto val="1"/>
        <c:lblAlgn val="ctr"/>
        <c:lblOffset val="100"/>
        <c:noMultiLvlLbl val="1"/>
      </c:catAx>
      <c:valAx>
        <c:axId val="-96010803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960102592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Score</c:v>
                </c:pt>
              </c:strCache>
            </c:strRef>
          </c:tx>
          <c:spPr>
            <a:solidFill>
              <a:srgbClr val="22C7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#various</c:v>
                </c:pt>
                <c:pt idx="1">
                  <c:v>#history</c:v>
                </c:pt>
                <c:pt idx="2">
                  <c:v>#even</c:v>
                </c:pt>
                <c:pt idx="3">
                  <c:v>#simply</c:v>
                </c:pt>
                <c:pt idx="4">
                  <c:v>#small</c:v>
                </c:pt>
                <c:pt idx="5">
                  <c:v>#oil</c:v>
                </c:pt>
                <c:pt idx="6">
                  <c:v>#prove</c:v>
                </c:pt>
                <c:pt idx="7">
                  <c:v>#population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34-423B-986D-F0DF47C6B8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960107488"/>
        <c:axId val="-960094976"/>
      </c:barChart>
      <c:catAx>
        <c:axId val="-960107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960094976"/>
        <c:crosses val="autoZero"/>
        <c:auto val="1"/>
        <c:lblAlgn val="ctr"/>
        <c:lblOffset val="100"/>
        <c:noMultiLvlLbl val="1"/>
      </c:catAx>
      <c:valAx>
        <c:axId val="-96009497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960107488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5B5FE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05:00</c:v>
                </c:pt>
                <c:pt idx="1">
                  <c:v>03:00</c:v>
                </c:pt>
                <c:pt idx="2">
                  <c:v>22:00</c:v>
                </c:pt>
                <c:pt idx="3">
                  <c:v>14:00</c:v>
                </c:pt>
                <c:pt idx="4">
                  <c:v>00:00</c:v>
                </c:pt>
                <c:pt idx="5">
                  <c:v>18:00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53</c:v>
                </c:pt>
                <c:pt idx="2">
                  <c:v>52</c:v>
                </c:pt>
                <c:pt idx="3">
                  <c:v>47</c:v>
                </c:pt>
                <c:pt idx="4">
                  <c:v>46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53-4D6B-9582-E3E5CC8C4A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960110208"/>
        <c:axId val="-960106944"/>
      </c:barChart>
      <c:catAx>
        <c:axId val="-960110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-960106944"/>
        <c:crosses val="autoZero"/>
        <c:auto val="1"/>
        <c:lblAlgn val="ctr"/>
        <c:lblOffset val="100"/>
        <c:noMultiLvlLbl val="1"/>
      </c:catAx>
      <c:valAx>
        <c:axId val="-96010694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-960110208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Tue</c:v>
                </c:pt>
                <c:pt idx="1">
                  <c:v>Sat</c:v>
                </c:pt>
                <c:pt idx="2">
                  <c:v>Mon</c:v>
                </c:pt>
                <c:pt idx="3">
                  <c:v>Wed</c:v>
                </c:pt>
                <c:pt idx="4">
                  <c:v>Fri</c:v>
                </c:pt>
                <c:pt idx="5">
                  <c:v>Thu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153</c:v>
                </c:pt>
                <c:pt idx="1">
                  <c:v>151</c:v>
                </c:pt>
                <c:pt idx="2">
                  <c:v>150</c:v>
                </c:pt>
                <c:pt idx="3">
                  <c:v>140</c:v>
                </c:pt>
                <c:pt idx="4">
                  <c:v>138</c:v>
                </c:pt>
                <c:pt idx="5">
                  <c:v>136</c:v>
                </c:pt>
                <c:pt idx="6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26-4CCF-8D5B-7D3352DE3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960104224"/>
        <c:axId val="-960096064"/>
      </c:barChart>
      <c:catAx>
        <c:axId val="-960104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-960096064"/>
        <c:crosses val="autoZero"/>
        <c:auto val="1"/>
        <c:lblAlgn val="ctr"/>
        <c:lblOffset val="100"/>
        <c:noMultiLvlLbl val="1"/>
      </c:catAx>
      <c:valAx>
        <c:axId val="-96009606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-960104224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Influencer Count</c:v>
                </c:pt>
              </c:strCache>
            </c:strRef>
          </c:tx>
          <c:spPr>
            <a:solidFill>
              <a:srgbClr val="FFB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Costa Rica</c:v>
                </c:pt>
                <c:pt idx="1">
                  <c:v>Fiji</c:v>
                </c:pt>
                <c:pt idx="2">
                  <c:v>Lao People's Democratic Republic</c:v>
                </c:pt>
                <c:pt idx="3">
                  <c:v>Montserrat</c:v>
                </c:pt>
                <c:pt idx="4">
                  <c:v>Namibia</c:v>
                </c:pt>
                <c:pt idx="5">
                  <c:v>Oman</c:v>
                </c:pt>
                <c:pt idx="6">
                  <c:v>Seychelles</c:v>
                </c:pt>
                <c:pt idx="7">
                  <c:v>Gambia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9E-406A-A24F-4D3519193D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960105312"/>
        <c:axId val="-960104768"/>
      </c:barChart>
      <c:catAx>
        <c:axId val="-9601053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Calibri"/>
              </a:defRPr>
            </a:pPr>
            <a:endParaRPr lang="en-US"/>
          </a:p>
        </c:txPr>
        <c:crossAx val="-960104768"/>
        <c:crosses val="autoZero"/>
        <c:auto val="1"/>
        <c:lblAlgn val="ctr"/>
        <c:lblOffset val="100"/>
        <c:noMultiLvlLbl val="1"/>
      </c:catAx>
      <c:valAx>
        <c:axId val="-96010476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-960105312"/>
        <c:crosses val="autoZero"/>
        <c:crossBetween val="between"/>
      </c:valAx>
      <c:spPr>
        <a:solidFill>
          <a:srgbClr val="F4F5F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5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26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5B5FE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023360"/>
            <a:ext cx="3840480" cy="3840480"/>
          </a:xfrm>
          <a:prstGeom prst="ellipse">
            <a:avLst/>
          </a:prstGeom>
          <a:solidFill>
            <a:srgbClr val="22C7C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+ GenAI Mini Project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7,000+ interactions across 1,000 users into marketing intelligence — powered by hands-on SQL and GenAI-assisted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8836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24942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 to the marketing team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019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23760" y="18836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23760" y="224942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interconnected tables powering the analysis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00200" y="32735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+ GenAI Approach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63931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queries were generated, debugged &amp; optimized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3127248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291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23760" y="32735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363931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KPIs at a glance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817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00200" y="4663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Analytical Deep-Dives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0292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users, top posts, hashtags, influencers &amp; more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72200" y="4517136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6817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23760" y="46634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Challenges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23760" y="502920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rate, mutual followers, leaderboards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5907024"/>
            <a:ext cx="5349240" cy="1170432"/>
          </a:xfrm>
          <a:prstGeom prst="roundRect">
            <a:avLst>
              <a:gd name="adj" fmla="val 546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07161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7C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600200" y="60533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Reflection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00200" y="641908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takeaways and GenAI learnings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Marketing Team Needs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Analyst at a growing social media startup, the brief is simple: turn raw activity logs into decisions the marketing team can act on — who to feature, what to promote, and where to invest.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most influential users?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power users to fuel ambassador &amp; referral programs.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606040"/>
            <a:ext cx="502920" cy="502920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</a:t>
            </a:r>
            <a:endParaRPr lang="en-US" sz="187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hashtags and content are trending?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content calendar and campaign themes.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6060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countries show the highest engagement?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1248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regional ad spend and localized content.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— 7 Interconnected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 database — loaded and verified: 1,000 rows in every table before analysis began.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29384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5B5FE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12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59736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username, join_date, country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46704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1929384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22C7C0"/>
          </a:solidFill>
          <a:ln/>
        </p:spPr>
      </p:sp>
      <p:sp>
        <p:nvSpPr>
          <p:cNvPr id="11" name="Text 9"/>
          <p:cNvSpPr/>
          <p:nvPr/>
        </p:nvSpPr>
        <p:spPr>
          <a:xfrm>
            <a:off x="3511296" y="2112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11296" y="2459736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post_id, user_id, content, created_at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929384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112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2459736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comment_id, post_id, user_id, comment_text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42832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07424" y="1929384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07424" y="2112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07424" y="2459736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like_id, post_id, user_id, created_at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01568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547872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5B5FEF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730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" y="4078224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follower_id, user_id, follower_user_id (self-join)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46704" y="3401568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11296" y="3547872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22C7C0"/>
          </a:solidFill>
          <a:ln/>
        </p:spPr>
      </p:sp>
      <p:sp>
        <p:nvSpPr>
          <p:cNvPr id="27" name="Text 25"/>
          <p:cNvSpPr/>
          <p:nvPr/>
        </p:nvSpPr>
        <p:spPr>
          <a:xfrm>
            <a:off x="3511296" y="3730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11296" y="4078224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hashtag_id, tag_name, category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44768" y="3401568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547872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7307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post_hashtags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4078224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post_id, hashtag_id (many-to-many bridge)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020056"/>
            <a:ext cx="11009376" cy="777240"/>
          </a:xfrm>
          <a:prstGeom prst="roundRect">
            <a:avLst>
              <a:gd name="adj" fmla="val 8235"/>
            </a:avLst>
          </a:prstGeom>
          <a:solidFill>
            <a:srgbClr val="161A3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020056"/>
            <a:ext cx="10552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users → posts (1:N)   •   posts ↔ likes / comments (1:N)   •   users ↔ users via followers (self-join)   •   posts ↔ hashtags (N:N via post_hashtags)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+ GenAI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was grounded in the schema first — GenAI assisted, but the SQL logic was reviewed and validated line by 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39696" cy="2834640"/>
          </a:xfrm>
          <a:prstGeom prst="roundRect">
            <a:avLst>
              <a:gd name="adj" fmla="val 341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221992"/>
            <a:ext cx="548640" cy="5486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4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Schema Context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table/column definitions into the AI tool before any question, so it never invents fields.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670048" y="31546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34640" y="1965960"/>
            <a:ext cx="2139696" cy="2834640"/>
          </a:xfrm>
          <a:prstGeom prst="roundRect">
            <a:avLst>
              <a:gd name="adj" fmla="val 341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30168" y="2221992"/>
            <a:ext cx="548640" cy="548640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Query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5661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precise analytical question — e.g. “Top 10 active users combining posts and comments.”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956048" y="31546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1965960"/>
            <a:ext cx="2139696" cy="2834640"/>
          </a:xfrm>
          <a:prstGeom prst="roundRect">
            <a:avLst>
              <a:gd name="adj" fmla="val 341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16168" y="222199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5916168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40" dirty="0"/>
          </a:p>
        </p:txBody>
      </p:sp>
      <p:sp>
        <p:nvSpPr>
          <p:cNvPr id="20" name="Text 18"/>
          <p:cNvSpPr/>
          <p:nvPr/>
        </p:nvSpPr>
        <p:spPr>
          <a:xfrm>
            <a:off x="525780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35661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ambiguous columns, alias mismatches, and fan-out duplication from multi-table joins.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242048" y="31546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06640" y="1965960"/>
            <a:ext cx="2139696" cy="2834640"/>
          </a:xfrm>
          <a:prstGeom prst="roundRect">
            <a:avLst>
              <a:gd name="adj" fmla="val 341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2221992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8202168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754380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43800" y="35661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with CTEs / pre-aggregation instead of raw multi-join + DISTINCT for performance.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528048" y="315468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92640" y="1965960"/>
            <a:ext cx="2139696" cy="2834640"/>
          </a:xfrm>
          <a:prstGeom prst="roundRect">
            <a:avLst>
              <a:gd name="adj" fmla="val 341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88168" y="2221992"/>
            <a:ext cx="548640" cy="54864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88168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40" dirty="0"/>
          </a:p>
        </p:txBody>
      </p:sp>
      <p:sp>
        <p:nvSpPr>
          <p:cNvPr id="32" name="Text 30"/>
          <p:cNvSpPr/>
          <p:nvPr/>
        </p:nvSpPr>
        <p:spPr>
          <a:xfrm>
            <a:off x="9829800" y="297180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829800" y="35661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8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result set into a business insight the marketing team can act on.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Snapshot — Key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directly from the Social_Media database via the queries on the following slides.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46888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2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54203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46227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8251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30275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Relationships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0149840" y="178308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4767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2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222992" y="265176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6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850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 =  (Total Likes + Total Comments) ÷ Total Posts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3995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3566160" y="4023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likes/post: 1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comments/post: 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40880" y="3749040"/>
            <a:ext cx="0" cy="960120"/>
          </a:xfrm>
          <a:prstGeom prst="line">
            <a:avLst/>
          </a:prstGeom>
          <a:noFill/>
          <a:ln w="12700">
            <a:solidFill>
              <a:srgbClr val="3A3F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68503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i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earns roughly 1 like and 1 comment on average — a healthy, evenly-balanced baseline of passive (likes) and active (comments) engagement to grow from.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01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Top Active Users (Posts + Comments)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total_comments,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+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total_activity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c.user_id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u.user_id, u.username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total_activity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DISTINCT on each COUNT prevents fan-out inflation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when a user has multiple posts AND multiple comments.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01 — AGGREGATION,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Active Users (Posts + Comments)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SQL to find top 10 active users combining posts and comments.”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users drive both content creation and conversation — not just passive scrolling. They're strong candidates for ambassador programs or beta feature testing.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this list over time: if a regular top performer drops off, treat it as an early churn signal worth a re-engagement nudge.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02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Most Liked Posts &amp; Their Creators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p.post_id, p.content, u.user_id, u.username,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(l.like_id)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p.user_id = u.user_id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p.post_id, p.content, u.user_id, u.username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total_likes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LEFT JOIN keeps posts with zero likes in the result.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02 — GROUP BY,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Liked Posts &amp; Their Creators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top 10 posts with most likes and username.”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Top-liked posts reveal what content resonates most — useful for identifying winning formats, topics, and tones to replicate.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who repeat on this list are high-value accounts worth featuring or partnering with. Cross-reference their hashtags to spot what's driving virality right now.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03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Top Countries by Average Engagement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total_posts,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(l.like_id)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(l.like_id) /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p.post_id), </a:t>
            </a:r>
            <a:r>
              <a:rPr lang="en-US" sz="13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avg_likes_per_post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u.country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&gt;= </a:t>
            </a:r>
            <a:r>
              <a:rPr lang="en-US" sz="13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avg_likes_per_post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HAVING filters low-sample countries AFTER aggregation.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03 — AGGREGATION,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Countries by Average Engagement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countries have highest average likes per post?”  (min. 3 posts)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markets show the highest engagement relative to content volume — not the loudest countries, but where content actually resonates.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ad spend and localized content toward these regions, and investigate low-average countries for content-fit, timing, or platform-maturity issues.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04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Trending Hashtags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h.hashtag_id, h.tag_name, h.category,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(ph.post_id)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post_count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 = ph.hashtag_id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h.hashtag_id, h.tag_name, h.category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(ph.post_id) &gt; </a:t>
            </a:r>
            <a:r>
              <a:rPr lang="en-US" sz="13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post_count DESC;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HAVING applies the aggregate-level filter after GROUP BY;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WHERE cannot filter on COUNT() directly.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04 — MANY-TO-MANY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Trending Hashtags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hashtags used in more than 20 posts.”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synthetic 1,000-row sample, the busiest hashtag appears in only 5 posts — so the &gt;20 threshold returns zero rows. The query logic (HAVING COUNT &gt; 20) is correct and production-ready; it simply needs a larger dataset to trigger.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volume instead, #population and #so lead — useful early signal for the content calendar.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05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Top Influencers by Follower Count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 u.country,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(f.follower_id)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f.user_id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u.user_id, u.username, u.country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follower_count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LEFT JOIN keeps users with zero followers at count = 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564157-CB85-F6E6-EDAC-FCF22250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05 — SELF-JOIN, AGGREGATION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Influencers by Follower Count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users with maximum followers.”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identifies reach — the accounts best positioned to amplify announcements or sponsored content.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this with the Top Active Users list (Q1): influencers who also post and comment frequently are the highest-leverage partnership candidates.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06 &amp; 09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Users Needing Attention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follow, never engage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f.follower_user_id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user_id, u.username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f.follower_user_id = u.user_id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l.user_id = f.follower_user_id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c.user_id = f.follower_user_id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NOT EXISTS excludes anyone with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at least one like OR comment.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5888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635344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4800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6" name="Text 14"/>
          <p:cNvSpPr/>
          <p:nvPr/>
        </p:nvSpPr>
        <p:spPr>
          <a:xfrm>
            <a:off x="7055968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fully inactive users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1608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 u.username, u.country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l.user_id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c.user_id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NULL;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LEFT JOIN + IS NULL finds users with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zero matching rows in all 3 tables.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E09B97-7358-AEB1-857C-8B26CAA55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06 &amp; 09 — NOT EXISTS, LEFT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Needing Attention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segments the marketing &amp; product teams should treat differently.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8483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Follow, but Never Engage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follow others but have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liked or commented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4800600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720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Lurkers with intent — they've already opted in by following. A well-timed prompt (“like your first post”, notification nudge) can convert passive followers into active participants at low cost.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8288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084832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Inactive Users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55080" y="2560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never posted,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liked, or commented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434840"/>
            <a:ext cx="4800600" cy="0"/>
          </a:xfrm>
          <a:prstGeom prst="line">
            <a:avLst/>
          </a:prstGeom>
          <a:noFill/>
          <a:ln w="12700">
            <a:solidFill>
              <a:srgbClr val="3A3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5720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48920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but dormant — a churn/onboarding risk. Segment by join_date: recent signups need onboarding nudges, while long-dormant accounts need a win-back campaign or removal from active-user reporting.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07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Hashtags with Highest Engagement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h.hashtag_id, h.tag_name, h.category,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total_likes,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total_comments,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+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engagement_score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h.hashtag_id = ph.hashtag_id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ph.post_id = p.post_id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c.post_id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h.hashtag_id, h.tag_name, h.category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engagement_score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DISTINCT on both COUNTs avoids fan-out from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joining likes AND comments to the same post.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07 — MULTI-TABLE JOIN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Hashtags with Highest Engagement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“Calculate engagement score per hashtag.”  (score = likes + comments)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(Q4) and engagement quality (Q7) don't always agree — a hashtag used often isn't always the one sparking conversation.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Q4 list to plan reach, and this list to plan resonance: pair high-reach tags with high-engagement themes in campaign briefs.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08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Busiest Posting Hours &amp;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 of day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HOUR(created_at)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post_hour,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post_count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post_hour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post_count DESC;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HOUR() extracts 0-23 from the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created_at timestamp for grouping.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5888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635344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4800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6" name="Text 14"/>
          <p:cNvSpPr/>
          <p:nvPr/>
        </p:nvSpPr>
        <p:spPr>
          <a:xfrm>
            <a:off x="7055968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of week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1608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DAYNAME(created_at)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weekday,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post_count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weekday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post_count DESC;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DAYNAME() returns 'Monday'..'Sunday'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directly, no CASE mapping needed.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08 — DATE FUNCTIONS, GROUPING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Busiest Posting Hours &amp; Days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which hour or weekday sees most posts.”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389120"/>
          </a:xfrm>
          <a:prstGeom prst="roundRect">
            <a:avLst>
              <a:gd name="adj" fmla="val 1458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Posting Hours (24h)</a:t>
            </a:r>
            <a:endParaRPr lang="en-US" sz="13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331720"/>
          <a:ext cx="50292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1783080"/>
            <a:ext cx="5376672" cy="4389120"/>
          </a:xfrm>
          <a:prstGeom prst="roundRect">
            <a:avLst>
              <a:gd name="adj" fmla="val 1458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94767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Posts by Day of Week</a:t>
            </a:r>
            <a:endParaRPr lang="en-US" sz="13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492240" y="2331720"/>
          <a:ext cx="4919472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— 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Top Countries by Number of Influencers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94415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100885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social_media_analysis_queries.sql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106372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u.country,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influencer_count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(f.follower_id)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f.user_id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u.user_id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follower_count &gt;= </a:t>
            </a:r>
            <a:r>
              <a:rPr lang="en-US" sz="13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influencers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influencers.user_id = u.user_id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u.country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influencer_count </a:t>
            </a: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3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Subquery first flags "influencers" (3+ followers),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then the outer query rolls them up by country.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— MULTI-JOIN, AGGREGATION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Countries by Number of Influencers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SQL to find countries with most followed users.”  (influencer = 3+ followers)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040880" cy="4434840"/>
          </a:xfrm>
          <a:prstGeom prst="roundRect">
            <a:avLst>
              <a:gd name="adj" fmla="val 1443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777240" y="196596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737360"/>
            <a:ext cx="3794760" cy="4434840"/>
          </a:xfrm>
          <a:prstGeom prst="roundRect">
            <a:avLst>
              <a:gd name="adj" fmla="val 1687"/>
            </a:avLst>
          </a:prstGeom>
          <a:solidFill>
            <a:srgbClr val="161A34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461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more influencers per capita are natural launch markets for creator partnerships and localized campaigns.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Q3 (engagement by country), this identifies markets that are both well-connected and highly engaged — the strongest expansion candidates.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Beyond the Core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65960"/>
            <a:ext cx="411480" cy="118872"/>
          </a:xfrm>
          <a:prstGeom prst="roundRect">
            <a:avLst>
              <a:gd name="adj" fmla="val 23077"/>
            </a:avLst>
          </a:prstGeom>
          <a:solidFill>
            <a:srgbClr val="5B5F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(likes + comments) ÷ posts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51960" y="203911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B5F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51960" y="26974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average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65960"/>
            <a:ext cx="411480" cy="118872"/>
          </a:xfrm>
          <a:prstGeom prst="roundRect">
            <a:avLst>
              <a:gd name="adj" fmla="val 23077"/>
            </a:avLst>
          </a:prstGeom>
          <a:solidFill>
            <a:srgbClr val="22C7C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Followers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5146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follow each other 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48672" y="203911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2C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948672" y="26974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pair found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60520"/>
            <a:ext cx="411480" cy="118872"/>
          </a:xfrm>
          <a:prstGeom prst="roundRect">
            <a:avLst>
              <a:gd name="adj" fmla="val 23077"/>
            </a:avLst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Hashtags by Top-5 Influencers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709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 used by the 5 most-followed users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423367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#television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51960" y="48920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tag used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45352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160520"/>
            <a:ext cx="411480" cy="118872"/>
          </a:xfrm>
          <a:prstGeom prst="roundRect">
            <a:avLst>
              <a:gd name="adj" fmla="val 23077"/>
            </a:avLst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Leaderboard (Engagement Rate)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47091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(likes+comments)÷posts, ranked by country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48672" y="423367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Guinea, Myanmar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948672" y="48920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top scorers (4.0)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SQL (1/2)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Engagement Rate &amp; Mutual Followers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likes) +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/ 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posts),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engagement_rate;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(total likes + total comments)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÷ total posts, platform-wide.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5888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635344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4800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6" name="Text 14"/>
          <p:cNvSpPr/>
          <p:nvPr/>
        </p:nvSpPr>
        <p:spPr>
          <a:xfrm>
            <a:off x="7055968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followers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1608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f1.user_id, f1.follower_user_id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f1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f2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f1.user_id = f2.follower_user_id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f1.follower_user_id = f2.user_id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f1.user_id &lt; f1.follower_user_id;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self-join on the reverse relationship;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inequality avoids counting each pair twice.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SQL (2/2)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Influencer Hashtags &amp; Country Leaderboard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hashtags, top-5 influencers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h.tag_name,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uses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post_hashtags ph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ph.post_id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hashtags h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ph.hashtag_id = h.hashtag_id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p.user_id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user_id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(f.follower_id)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followers f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f.user_id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 BY u.user_id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followers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top5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h.tag_name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uses DESC;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410048" cy="4663440"/>
          </a:xfrm>
          <a:prstGeom prst="roundRect">
            <a:avLst>
              <a:gd name="adj" fmla="val 1176"/>
            </a:avLst>
          </a:prstGeom>
          <a:solidFill>
            <a:srgbClr val="10132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3008" y="1691640"/>
            <a:ext cx="5410048" cy="384048"/>
          </a:xfrm>
          <a:prstGeom prst="roundRect">
            <a:avLst>
              <a:gd name="adj" fmla="val 14286"/>
            </a:avLst>
          </a:prstGeom>
          <a:solidFill>
            <a:srgbClr val="1D214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15888" y="181965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6635344" y="181965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4800" y="1819656"/>
            <a:ext cx="128016" cy="128016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6" name="Text 14"/>
          <p:cNvSpPr/>
          <p:nvPr/>
        </p:nvSpPr>
        <p:spPr>
          <a:xfrm>
            <a:off x="7055968" y="1691640"/>
            <a:ext cx="440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engagement leaderboard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1608" y="2194560"/>
            <a:ext cx="49528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u.country,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comments,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l.like_id) +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c.comment_id))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p.post_id),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engagement_rate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u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p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u.user_id = p.user_id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likes l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l.post_id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comments c </a:t>
            </a: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p.post_id = c.post_id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u.country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7F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&gt; </a:t>
            </a:r>
            <a:r>
              <a:rPr lang="en-US" sz="1100" dirty="0">
                <a:solidFill>
                  <a:srgbClr val="FFC0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engagement_rate DESC;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5B5F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contribution, not just reach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active users (Q1) and top influencers (Q5) aren't always the same people — build separate ambassador and amplification programs for 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920240"/>
            <a:ext cx="411480" cy="411480"/>
          </a:xfrm>
          <a:prstGeom prst="ellipse">
            <a:avLst/>
          </a:prstGeom>
          <a:solidFill>
            <a:srgbClr val="22C7C0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7022592" y="18745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high-resonance regions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9672" y="2468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countries (Q3, Q10) combine strong engagement with a healthy influencer base — prioritize localized campaigns there before broader spend.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30" dirty="0"/>
          </a:p>
        </p:txBody>
      </p:sp>
      <p:sp>
        <p:nvSpPr>
          <p:cNvPr id="17" name="Text 15"/>
          <p:cNvSpPr/>
          <p:nvPr/>
        </p:nvSpPr>
        <p:spPr>
          <a:xfrm>
            <a:off x="1325880" y="42793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lurkers before they churn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873752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users follow but never engage, and 47 are fully inactive — different problems needing different fixes: activation nudges vs. win-back campaigns.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4096512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F244A"/>
          </a:solidFill>
          <a:ln w="12700">
            <a:solidFill>
              <a:srgbClr val="2A2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325112"/>
            <a:ext cx="411480" cy="41148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7022592" y="42793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content around both reach and resonance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873752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hashtags (Q4) drive visibility; high-engagement hashtags (Q7) drive conversation — the content calendar should target both, not just the loudest tags.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5B5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GenAI Helped — And Where Judgment Still Mattered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5B5FE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GenAI Accelerated Work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SQL from a plain-English business question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debugging: alias mismatches, ambiguous columns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ideas — CTEs, pre-aggregation over raw joins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interpretation of result sets for stakeholders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2057400"/>
            <a:ext cx="457200" cy="128016"/>
          </a:xfrm>
          <a:prstGeom prst="roundRect">
            <a:avLst>
              <a:gd name="adj" fmla="val 21429"/>
            </a:avLst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Human Review Was Essential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19672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silent double-counting from un-deduped joins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WHERE vs. HAVING was used correctly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threshold (e.g. &gt;20 posts) fit the actual data</a:t>
            </a:r>
            <a:endParaRPr lang="en-US" sz="12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a number means for the business, not just 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5120640" cy="5120640"/>
          </a:xfrm>
          <a:prstGeom prst="ellipse">
            <a:avLst/>
          </a:prstGeom>
          <a:solidFill>
            <a:srgbClr val="5B5FE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206240"/>
            <a:ext cx="4206240" cy="4206240"/>
          </a:xfrm>
          <a:prstGeom prst="ellipse">
            <a:avLst/>
          </a:prstGeom>
          <a:solidFill>
            <a:srgbClr val="22C7C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2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GenAI Mini Project  |  Social Media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3759</Words>
  <Application>Microsoft Office PowerPoint</Application>
  <PresentationFormat>Widescreen</PresentationFormat>
  <Paragraphs>530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Astha Jadhao</cp:lastModifiedBy>
  <cp:revision>3</cp:revision>
  <dcterms:created xsi:type="dcterms:W3CDTF">2026-08-01T13:47:03Z</dcterms:created>
  <dcterms:modified xsi:type="dcterms:W3CDTF">2026-08-03T18:57:14Z</dcterms:modified>
</cp:coreProperties>
</file>